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91385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759022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26055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874139" y="-74285"/>
            <a:ext cx="2249851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NARADA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TEAM</a:t>
            </a:r>
            <a:br>
              <a:rPr lang="en-US" sz="1400" dirty="0"/>
            </a:br>
            <a:r>
              <a:rPr lang="en-US" sz="1400" dirty="0"/>
              <a:t>NIRVANA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A8B871-FC1A-5298-C1C0-C0FE82BC0324}"/>
              </a:ext>
            </a:extLst>
          </p:cNvPr>
          <p:cNvSpPr/>
          <p:nvPr/>
        </p:nvSpPr>
        <p:spPr>
          <a:xfrm>
            <a:off x="182998" y="1129929"/>
            <a:ext cx="11846938" cy="3637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A</a:t>
            </a:r>
            <a:r>
              <a:rPr lang="en-IN" dirty="0">
                <a:latin typeface="Arial Black" panose="020B0A04020102020204" pitchFamily="34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3- RL agent</a:t>
            </a:r>
            <a:r>
              <a:rPr lang="en-IN" dirty="0">
                <a:latin typeface="Arial Black" panose="020B0A04020102020204" pitchFamily="34" charset="0"/>
              </a:rPr>
              <a:t> phase sequencer that cuts intercept time to </a:t>
            </a:r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[X]sec </a:t>
            </a:r>
            <a:r>
              <a:rPr lang="en-IN" b="1" dirty="0">
                <a:solidFill>
                  <a:schemeClr val="bg1"/>
                </a:solidFill>
                <a:latin typeface="Arial Black" panose="020B0A04020102020204" pitchFamily="34" charset="0"/>
              </a:rPr>
              <a:t>at</a:t>
            </a:r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 [Y]% </a:t>
            </a:r>
            <a:r>
              <a:rPr lang="en-IN" dirty="0">
                <a:latin typeface="Arial Black" panose="020B0A04020102020204" pitchFamily="34" charset="0"/>
              </a:rPr>
              <a:t>interception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69935-FC18-A9EB-53BF-767C2E9FCE69}"/>
              </a:ext>
            </a:extLst>
          </p:cNvPr>
          <p:cNvSpPr/>
          <p:nvPr/>
        </p:nvSpPr>
        <p:spPr>
          <a:xfrm>
            <a:off x="182998" y="1661652"/>
            <a:ext cx="4725155" cy="45565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>
                <a:solidFill>
                  <a:schemeClr val="tx1"/>
                </a:solidFill>
              </a:rPr>
              <a:t>.3 horizontal nodes: Agent A (Explore) → Agent C (Balance) → Agent B (Intercept). Use arrows, not a list.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.On each arrow, one short label: the trigger condition for that transition (e.g. "coverage &gt; 80%" / "confidence gated handoff"). This is your one chance to show the phase-sequencing claim visually instead of in a sentence.</a:t>
            </a:r>
          </a:p>
          <a:p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WHY THE 3 DIFFERENT TYPES OF RL AGENTS NOT 1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WHAT ARE THEY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4F4392-B8FC-9FFD-82E7-873958CB7BC4}"/>
              </a:ext>
            </a:extLst>
          </p:cNvPr>
          <p:cNvSpPr/>
          <p:nvPr/>
        </p:nvSpPr>
        <p:spPr>
          <a:xfrm>
            <a:off x="7283847" y="1667464"/>
            <a:ext cx="4725155" cy="14681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ALL THE MAIN the numeric metrics we achieved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CD8B2F-0654-AE07-528F-A35F4B85B748}"/>
              </a:ext>
            </a:extLst>
          </p:cNvPr>
          <p:cNvSpPr/>
          <p:nvPr/>
        </p:nvSpPr>
        <p:spPr>
          <a:xfrm>
            <a:off x="5054931" y="3272158"/>
            <a:ext cx="6954071" cy="29088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Pareto's CHART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2B4F2A-0514-15F3-0CF1-50FE0CFD84E7}"/>
              </a:ext>
            </a:extLst>
          </p:cNvPr>
          <p:cNvSpPr/>
          <p:nvPr/>
        </p:nvSpPr>
        <p:spPr>
          <a:xfrm>
            <a:off x="5068010" y="1667464"/>
            <a:ext cx="2055980" cy="14681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Our main differentiation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Aamir’s idea and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human intelligence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layer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C76DC6-5C40-E1B4-2396-35FAFF6F3B77}"/>
              </a:ext>
            </a:extLst>
          </p:cNvPr>
          <p:cNvSpPr txBox="1"/>
          <p:nvPr/>
        </p:nvSpPr>
        <p:spPr>
          <a:xfrm>
            <a:off x="4332518" y="725423"/>
            <a:ext cx="333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RIGHT PLACE AT THE RIGHT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77264" y="2979175"/>
            <a:ext cx="573220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" dirty="0">
                <a:latin typeface="Arial" pitchFamily="34" charset="0"/>
                <a:cs typeface="Arial" pitchFamily="34" charset="0"/>
              </a:rPr>
              <a:t>Methodology and process for implementation (Flow Charts/Images/ working </a:t>
            </a:r>
            <a:r>
              <a:rPr lang="en-US" sz="200" dirty="0" err="1">
                <a:latin typeface="Arial" pitchFamily="34" charset="0"/>
                <a:cs typeface="Arial" pitchFamily="34" charset="0"/>
              </a:rPr>
              <a:t>prototyp</a:t>
            </a:r>
            <a:r>
              <a:rPr lang="en-US" sz="2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7D0D32-ED72-FC5E-FE79-D1AA325A9CA2}"/>
              </a:ext>
            </a:extLst>
          </p:cNvPr>
          <p:cNvSpPr/>
          <p:nvPr/>
        </p:nvSpPr>
        <p:spPr>
          <a:xfrm>
            <a:off x="3677263" y="1615397"/>
            <a:ext cx="4837471" cy="399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Central Flow Charts/Images</a:t>
            </a:r>
          </a:p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933957-1AD5-AF5F-3D45-13C80A35FF53}"/>
              </a:ext>
            </a:extLst>
          </p:cNvPr>
          <p:cNvSpPr/>
          <p:nvPr/>
        </p:nvSpPr>
        <p:spPr>
          <a:xfrm>
            <a:off x="182998" y="1129929"/>
            <a:ext cx="11846938" cy="3637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Belief-State Update → Periodicity Test → Phase-Sync Handoff(basically the entire pipeline)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B4A05-6C3A-18C0-7ED0-1AD6955C3A53}"/>
              </a:ext>
            </a:extLst>
          </p:cNvPr>
          <p:cNvSpPr/>
          <p:nvPr/>
        </p:nvSpPr>
        <p:spPr>
          <a:xfrm>
            <a:off x="182999" y="1615397"/>
            <a:ext cx="3336950" cy="399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Methodology and process for implementation basically technical explanation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FF04D1-A63B-7704-A5EC-80FC6E53D059}"/>
              </a:ext>
            </a:extLst>
          </p:cNvPr>
          <p:cNvSpPr/>
          <p:nvPr/>
        </p:nvSpPr>
        <p:spPr>
          <a:xfrm>
            <a:off x="8667135" y="1615397"/>
            <a:ext cx="3336950" cy="399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Working prototype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Visual representation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IMAGE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MOST IMPORTANT 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C1FF8F-D128-B829-A20B-234277D5ABB8}"/>
              </a:ext>
            </a:extLst>
          </p:cNvPr>
          <p:cNvSpPr/>
          <p:nvPr/>
        </p:nvSpPr>
        <p:spPr>
          <a:xfrm>
            <a:off x="182998" y="5728070"/>
            <a:ext cx="3336951" cy="5050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Programming language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and why we used it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60085E-3CA3-32C9-653D-5A9DD233FC91}"/>
              </a:ext>
            </a:extLst>
          </p:cNvPr>
          <p:cNvSpPr/>
          <p:nvPr/>
        </p:nvSpPr>
        <p:spPr>
          <a:xfrm>
            <a:off x="3677263" y="5728070"/>
            <a:ext cx="8326821" cy="5050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Reward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CEF25549-A10D-B364-F5D5-5B265DEE7B24}"/>
              </a:ext>
            </a:extLst>
          </p:cNvPr>
          <p:cNvSpPr/>
          <p:nvPr/>
        </p:nvSpPr>
        <p:spPr>
          <a:xfrm>
            <a:off x="6264971" y="3925621"/>
            <a:ext cx="5764965" cy="2112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AF5ACC-6C59-3B08-ED8E-52E8BEA1D30B}"/>
              </a:ext>
            </a:extLst>
          </p:cNvPr>
          <p:cNvSpPr/>
          <p:nvPr/>
        </p:nvSpPr>
        <p:spPr>
          <a:xfrm>
            <a:off x="203930" y="3925622"/>
            <a:ext cx="5744031" cy="2112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63F809-9E9B-C573-CCFC-1839ABD2984C}"/>
              </a:ext>
            </a:extLst>
          </p:cNvPr>
          <p:cNvSpPr/>
          <p:nvPr/>
        </p:nvSpPr>
        <p:spPr>
          <a:xfrm>
            <a:off x="6264971" y="1653591"/>
            <a:ext cx="5764965" cy="2112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6374922"/>
            <a:ext cx="179258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3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1001A4-CE20-3E24-BE25-DF2C072A3175}"/>
              </a:ext>
            </a:extLst>
          </p:cNvPr>
          <p:cNvSpPr txBox="1"/>
          <p:nvPr/>
        </p:nvSpPr>
        <p:spPr>
          <a:xfrm>
            <a:off x="8141110" y="40312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4B3278-1971-13F9-C0D0-49F78BAA6C25}"/>
              </a:ext>
            </a:extLst>
          </p:cNvPr>
          <p:cNvSpPr/>
          <p:nvPr/>
        </p:nvSpPr>
        <p:spPr>
          <a:xfrm>
            <a:off x="182997" y="1653591"/>
            <a:ext cx="5764965" cy="21121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988918-0382-ECD0-6CBE-511EC0B34B9C}"/>
              </a:ext>
            </a:extLst>
          </p:cNvPr>
          <p:cNvSpPr/>
          <p:nvPr/>
        </p:nvSpPr>
        <p:spPr>
          <a:xfrm>
            <a:off x="182998" y="1129929"/>
            <a:ext cx="11846938" cy="3637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Arial Black" panose="020B0A04020102020204" pitchFamily="34" charset="0"/>
              </a:rPr>
              <a:t>Simulation is validated on [N] scenarios &amp; architecture extends to [Y] integration as scoped for future work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EA8180-09B7-790D-6E12-91DE2A1AC887}"/>
              </a:ext>
            </a:extLst>
          </p:cNvPr>
          <p:cNvSpPr/>
          <p:nvPr/>
        </p:nvSpPr>
        <p:spPr>
          <a:xfrm>
            <a:off x="4751755" y="3053675"/>
            <a:ext cx="2688489" cy="142415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60A43C-3EE8-4827-C50A-DF3D90CA8698}"/>
              </a:ext>
            </a:extLst>
          </p:cNvPr>
          <p:cNvSpPr/>
          <p:nvPr/>
        </p:nvSpPr>
        <p:spPr>
          <a:xfrm>
            <a:off x="4891547" y="3169233"/>
            <a:ext cx="2408903" cy="118355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1AC17A-101B-7E36-D270-3595D8DEFAA1}"/>
              </a:ext>
            </a:extLst>
          </p:cNvPr>
          <p:cNvCxnSpPr>
            <a:cxnSpLocks/>
            <a:stCxn id="5" idx="2"/>
            <a:endCxn id="5" idx="6"/>
          </p:cNvCxnSpPr>
          <p:nvPr/>
        </p:nvCxnSpPr>
        <p:spPr>
          <a:xfrm>
            <a:off x="4891547" y="3761012"/>
            <a:ext cx="24089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975A789-5E5D-C4A3-C8B0-1ADA11D9FFBA}"/>
              </a:ext>
            </a:extLst>
          </p:cNvPr>
          <p:cNvSpPr txBox="1"/>
          <p:nvPr/>
        </p:nvSpPr>
        <p:spPr>
          <a:xfrm>
            <a:off x="6236663" y="334875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Viability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326259-CB78-D8CA-29F7-366553B3D9C8}"/>
              </a:ext>
            </a:extLst>
          </p:cNvPr>
          <p:cNvSpPr txBox="1"/>
          <p:nvPr/>
        </p:nvSpPr>
        <p:spPr>
          <a:xfrm>
            <a:off x="5005394" y="3348751"/>
            <a:ext cx="115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Feasibility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05E54B-BF9A-5B84-5AA5-A7278C9DE255}"/>
              </a:ext>
            </a:extLst>
          </p:cNvPr>
          <p:cNvCxnSpPr>
            <a:cxnSpLocks/>
            <a:stCxn id="5" idx="0"/>
            <a:endCxn id="5" idx="4"/>
          </p:cNvCxnSpPr>
          <p:nvPr/>
        </p:nvCxnSpPr>
        <p:spPr>
          <a:xfrm>
            <a:off x="6095999" y="3169233"/>
            <a:ext cx="0" cy="118355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6BD3E41-19CA-2D93-3AD5-DEE317FC6E45}"/>
              </a:ext>
            </a:extLst>
          </p:cNvPr>
          <p:cNvSpPr txBox="1"/>
          <p:nvPr/>
        </p:nvSpPr>
        <p:spPr>
          <a:xfrm>
            <a:off x="5010860" y="3780733"/>
            <a:ext cx="110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Challenge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80AE0F-5F41-D47C-055A-531365E16C0A}"/>
              </a:ext>
            </a:extLst>
          </p:cNvPr>
          <p:cNvSpPr txBox="1"/>
          <p:nvPr/>
        </p:nvSpPr>
        <p:spPr>
          <a:xfrm>
            <a:off x="6225231" y="3776383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480618" y="-47625"/>
            <a:ext cx="5535563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419356C-3B70-6A48-82D1-98F52B2AC277}"/>
              </a:ext>
            </a:extLst>
          </p:cNvPr>
          <p:cNvSpPr/>
          <p:nvPr/>
        </p:nvSpPr>
        <p:spPr>
          <a:xfrm>
            <a:off x="182998" y="1129929"/>
            <a:ext cx="11846938" cy="3637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Immediate impact on </a:t>
            </a:r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ES capacity </a:t>
            </a:r>
            <a:r>
              <a:rPr lang="en-IN" dirty="0">
                <a:latin typeface="Arial Black" panose="020B0A04020102020204" pitchFamily="34" charset="0"/>
              </a:rPr>
              <a:t>and can be layered with </a:t>
            </a:r>
            <a:r>
              <a:rPr lang="en-IN" dirty="0">
                <a:solidFill>
                  <a:schemeClr val="tx1"/>
                </a:solidFill>
                <a:latin typeface="Arial Black" panose="020B0A04020102020204" pitchFamily="34" charset="0"/>
              </a:rPr>
              <a:t>EA &amp; EP cognitive layers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656414-9548-12CE-31B8-EF0AC2659701}"/>
              </a:ext>
            </a:extLst>
          </p:cNvPr>
          <p:cNvSpPr/>
          <p:nvPr/>
        </p:nvSpPr>
        <p:spPr>
          <a:xfrm>
            <a:off x="182998" y="1995948"/>
            <a:ext cx="3740073" cy="42222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Current ES </a:t>
            </a:r>
          </a:p>
          <a:p>
            <a:pPr algn="ctr"/>
            <a:r>
              <a:rPr lang="en-IN" dirty="0">
                <a:latin typeface="Arial Black" panose="020B0A04020102020204" pitchFamily="34" charset="0"/>
              </a:rPr>
              <a:t>Impact (How it is better than current versions in use)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A4F200-F56B-65FD-C531-B69FEE058B18}"/>
              </a:ext>
            </a:extLst>
          </p:cNvPr>
          <p:cNvSpPr/>
          <p:nvPr/>
        </p:nvSpPr>
        <p:spPr>
          <a:xfrm>
            <a:off x="4060722" y="3938285"/>
            <a:ext cx="7948280" cy="22799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E924F7-8019-EDB3-23E8-558F44BB0040}"/>
              </a:ext>
            </a:extLst>
          </p:cNvPr>
          <p:cNvSpPr/>
          <p:nvPr/>
        </p:nvSpPr>
        <p:spPr>
          <a:xfrm>
            <a:off x="4060723" y="1995948"/>
            <a:ext cx="7948279" cy="19423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EA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4D9C2-65C7-3661-BA38-EDE2C863D72B}"/>
              </a:ext>
            </a:extLst>
          </p:cNvPr>
          <p:cNvSpPr/>
          <p:nvPr/>
        </p:nvSpPr>
        <p:spPr>
          <a:xfrm>
            <a:off x="182998" y="1632154"/>
            <a:ext cx="3740072" cy="3637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9FFC2-AA1F-B9FB-4E3D-83CBA0E99D9D}"/>
              </a:ext>
            </a:extLst>
          </p:cNvPr>
          <p:cNvSpPr/>
          <p:nvPr/>
        </p:nvSpPr>
        <p:spPr>
          <a:xfrm>
            <a:off x="4060722" y="1632154"/>
            <a:ext cx="7948280" cy="3637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BENIFITS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3A1BE3-7072-36FF-9331-5EB6E63C3192}"/>
              </a:ext>
            </a:extLst>
          </p:cNvPr>
          <p:cNvSpPr/>
          <p:nvPr/>
        </p:nvSpPr>
        <p:spPr>
          <a:xfrm>
            <a:off x="609600" y="1353355"/>
            <a:ext cx="5334001" cy="21960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0DB69-E26C-71E1-72D2-AE574593CF16}"/>
              </a:ext>
            </a:extLst>
          </p:cNvPr>
          <p:cNvSpPr/>
          <p:nvPr/>
        </p:nvSpPr>
        <p:spPr>
          <a:xfrm>
            <a:off x="6248400" y="1353355"/>
            <a:ext cx="5486400" cy="21960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Research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04BE70-969F-094C-FB45-21F35BD2041F}"/>
              </a:ext>
            </a:extLst>
          </p:cNvPr>
          <p:cNvSpPr/>
          <p:nvPr/>
        </p:nvSpPr>
        <p:spPr>
          <a:xfrm>
            <a:off x="3316252" y="3745016"/>
            <a:ext cx="5486400" cy="24108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YOUTUBE VIDEO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16222</TotalTime>
  <Words>529</Words>
  <Application>Microsoft Office PowerPoint</Application>
  <PresentationFormat>Widescreen</PresentationFormat>
  <Paragraphs>84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Arial Black</vt:lpstr>
      <vt:lpstr>Calibri</vt:lpstr>
      <vt:lpstr>Garamond</vt:lpstr>
      <vt:lpstr>Times New Roman</vt:lpstr>
      <vt:lpstr>TradeGothic</vt:lpstr>
      <vt:lpstr>Office Theme</vt:lpstr>
      <vt:lpstr>SMART INDIA HACKATHON 2026</vt:lpstr>
      <vt:lpstr>NARADA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Abdullah Ansari</cp:lastModifiedBy>
  <cp:revision>149</cp:revision>
  <dcterms:created xsi:type="dcterms:W3CDTF">2013-12-12T18:46:50Z</dcterms:created>
  <dcterms:modified xsi:type="dcterms:W3CDTF">2026-09-10T21:55:28Z</dcterms:modified>
  <cp:category/>
</cp:coreProperties>
</file>